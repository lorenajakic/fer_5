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odes-1-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457200"/>
            <a:ext cx="4389120" cy="32386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"/>
            <a:ext cx="6766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E293B"/>
                </a:solidFill>
                <a:latin typeface="Arial"/>
              </a:rPr>
              <a:t>Aplikacija za planiranje
putovanja primjenom
LLM-agenta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64748B"/>
                </a:solidFill>
                <a:latin typeface="Arial"/>
              </a:rPr>
              <a:t>Od kaosa grupnog dogovaranja
do sinkroniziranog agentskog plana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493776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Arial"/>
              </a:rPr>
              <a:t>Lorena Jakić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6460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rial"/>
              </a:rPr>
              <a:t>Mentor: doc. dr. sc. Luka Humski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rial"/>
              </a:rPr>
              <a:t>FER Zagreb — lipanj 2026.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52160"/>
            <a:ext cx="2286000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GoTogether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Pregled prezentacije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" y="2103120"/>
            <a:ext cx="1188720" cy="1188720"/>
          </a:xfrm>
          <a:prstGeom prst="ellipse">
            <a:avLst/>
          </a:prstGeom>
          <a:solidFill>
            <a:srgbClr val="FFE4E6"/>
          </a:solidFill>
          <a:ln w="317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350008"/>
            <a:ext cx="694944" cy="694944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3474720"/>
            <a:ext cx="210312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43F5E"/>
                </a:solidFill>
                <a:latin typeface="Arial"/>
              </a:rPr>
              <a:t>Motivacija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069080"/>
            <a:ext cx="210312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64748B"/>
                </a:solidFill>
                <a:latin typeface="Arial"/>
              </a:rPr>
              <a:t>Zašto ova aplikacija?</a:t>
            </a:r>
          </a:p>
        </p:txBody>
      </p:sp>
      <p:sp>
        <p:nvSpPr>
          <p:cNvPr id="10" name="Oval 9"/>
          <p:cNvSpPr/>
          <p:nvPr/>
        </p:nvSpPr>
        <p:spPr>
          <a:xfrm>
            <a:off x="2898648" y="2103120"/>
            <a:ext cx="1188720" cy="1188720"/>
          </a:xfrm>
          <a:prstGeom prst="ellipse">
            <a:avLst/>
          </a:prstGeom>
          <a:solidFill>
            <a:srgbClr val="E0F2FE"/>
          </a:solidFill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45536" y="2350008"/>
            <a:ext cx="694944" cy="694944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41448" y="3474720"/>
            <a:ext cx="210312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EA5E9"/>
                </a:solidFill>
                <a:latin typeface="Arial"/>
              </a:rPr>
              <a:t>Rješenje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1448" y="4069080"/>
            <a:ext cx="210312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64748B"/>
                </a:solidFill>
                <a:latin typeface="Arial"/>
              </a:rPr>
              <a:t>Što je GoTogether?</a:t>
            </a:r>
          </a:p>
        </p:txBody>
      </p:sp>
      <p:sp>
        <p:nvSpPr>
          <p:cNvPr id="14" name="Oval 13"/>
          <p:cNvSpPr/>
          <p:nvPr/>
        </p:nvSpPr>
        <p:spPr>
          <a:xfrm>
            <a:off x="5111496" y="2103120"/>
            <a:ext cx="1188720" cy="1188720"/>
          </a:xfrm>
          <a:prstGeom prst="ellipse">
            <a:avLst/>
          </a:prstGeom>
          <a:solidFill>
            <a:srgbClr val="EDE9FE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58384" y="23500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54296" y="3474720"/>
            <a:ext cx="210312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7C3AED"/>
                </a:solidFill>
                <a:latin typeface="Arial"/>
              </a:rPr>
              <a:t>Agentski sustav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4296" y="4069080"/>
            <a:ext cx="210312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64748B"/>
                </a:solidFill>
                <a:latin typeface="Arial"/>
              </a:rPr>
              <a:t>Kako AI agent radi?</a:t>
            </a:r>
          </a:p>
        </p:txBody>
      </p:sp>
      <p:sp>
        <p:nvSpPr>
          <p:cNvPr id="18" name="Oval 17"/>
          <p:cNvSpPr/>
          <p:nvPr/>
        </p:nvSpPr>
        <p:spPr>
          <a:xfrm>
            <a:off x="7324344" y="2103120"/>
            <a:ext cx="1188720" cy="1188720"/>
          </a:xfrm>
          <a:prstGeom prst="ellipse">
            <a:avLst/>
          </a:prstGeom>
          <a:solidFill>
            <a:srgbClr val="FFEDD5"/>
          </a:solidFill>
          <a:ln w="31750">
            <a:solidFill>
              <a:srgbClr val="EA7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71231" y="2350008"/>
            <a:ext cx="694944" cy="694944"/>
          </a:xfrm>
          <a:prstGeom prst="ellipse">
            <a:avLst/>
          </a:prstGeom>
          <a:solidFill>
            <a:srgbClr val="EA7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67144" y="3474720"/>
            <a:ext cx="210312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A760C"/>
                </a:solidFill>
                <a:latin typeface="Arial"/>
              </a:rPr>
              <a:t>Demo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67144" y="4069080"/>
            <a:ext cx="210312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64748B"/>
                </a:solidFill>
                <a:latin typeface="Arial"/>
              </a:rPr>
              <a:t>Aplikacija u praksi</a:t>
            </a:r>
          </a:p>
        </p:txBody>
      </p:sp>
      <p:sp>
        <p:nvSpPr>
          <p:cNvPr id="22" name="Oval 21"/>
          <p:cNvSpPr/>
          <p:nvPr/>
        </p:nvSpPr>
        <p:spPr>
          <a:xfrm>
            <a:off x="9537192" y="2103120"/>
            <a:ext cx="1188720" cy="1188720"/>
          </a:xfrm>
          <a:prstGeom prst="ellipse">
            <a:avLst/>
          </a:prstGeom>
          <a:solidFill>
            <a:srgbClr val="DCFCE7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0" y="2350008"/>
            <a:ext cx="694944" cy="69494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9992" y="3474720"/>
            <a:ext cx="210312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6A34A"/>
                </a:solidFill>
                <a:latin typeface="Arial"/>
              </a:rPr>
              <a:t>Evaluacija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79992" y="4069080"/>
            <a:ext cx="210312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64748B"/>
                </a:solidFill>
                <a:latin typeface="Arial"/>
              </a:rPr>
              <a:t>Rezultati i zaključak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Motivacija: kako planiramo putovanje s prijateljima?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Zamislite: 6 prijatelja, Pariz, 5 dana...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371600"/>
            <a:ext cx="685800" cy="685800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F43F5E"/>
                </a:solidFill>
                <a:latin typeface="Arial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389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Arial"/>
              </a:rPr>
              <a:t>Dogovaranje na 5 mjesta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Arial"/>
              </a:rPr>
              <a:t>Facebook, Instagram, e-mail, Messenger...
Svaki kanal drugačija odluka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2633472"/>
            <a:ext cx="685800" cy="685800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F43F5E"/>
                </a:solidFill>
                <a:latin typeface="Arial"/>
              </a:rPr>
              <a:t>🎟️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Arial"/>
              </a:rPr>
              <a:t>Karte i rezervacije razbacane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09067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Arial"/>
              </a:rPr>
              <a:t>Hoteli u mailu, letovi u appu,
vlakske karte u grupnom chatu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3895344"/>
            <a:ext cx="685800" cy="685800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F43F5E"/>
                </a:solidFill>
                <a:latin typeface="Arial"/>
              </a:rPr>
              <a:t>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9136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Arial"/>
              </a:rPr>
              <a:t>Nitko ne provjerava izvedivost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352544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Arial"/>
              </a:rPr>
              <a:t>Plan izgleda dobro na papiru —
ali termini se preklapaju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5157216"/>
            <a:ext cx="685800" cy="685800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0">
                <a:solidFill>
                  <a:srgbClr val="F43F5E"/>
                </a:solidFill>
                <a:latin typeface="Arial"/>
              </a:rP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1755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Arial"/>
              </a:rPr>
              <a:t>Nema jednog mjesta za sve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614416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Arial"/>
              </a:rPr>
              <a:t>Prijedlozi se gube,
odluke se ponavljaju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0"/>
            <a:ext cx="5577840" cy="3749039"/>
          </a:xfrm>
          <a:prstGeom prst="roundRect">
            <a:avLst/>
          </a:prstGeom>
          <a:solidFill>
            <a:srgbClr val="FFF7F7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900">
                <a:solidFill>
                  <a:srgbClr val="1E293B"/>
                </a:solidFill>
                <a:latin typeface="Arial"/>
              </a:rPr>
              <a:t>💬  "Kada idemo?
Tko je pronašao hotel?
Jeste li vidjeli moju poruku o kartama?
Čekajte — koji plan smo prihvatili?"
— Tipični grupni chat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230368"/>
            <a:ext cx="5577840" cy="1463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✅  Treba nam jedno mjesto
gdje svi planiraju zajedno,
a AI koordinira i provjerava.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Rješenje: GoTogether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Jedno mjesto — svi planiraju zajedno, AI asistent provjerava svaki korak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ijeli_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371600"/>
            <a:ext cx="6309360" cy="46392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0" y="1371600"/>
            <a:ext cx="5230368" cy="12344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1463040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Arial"/>
              </a:rPr>
              <a:t>🗺️  Interaktivna karta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1938528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Dodaj mjesta klikom — vidljivo svima odmah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724912"/>
            <a:ext cx="5230368" cy="1234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2816352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Arial"/>
              </a:rPr>
              <a:t>🤖  AI asistent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329184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Generira plan, traži letove, smještaj, odgovara na pitanja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078224"/>
            <a:ext cx="5230368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4169663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Arial"/>
              </a:rPr>
              <a:t>📂  Svi dokumenti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4645152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Karte, rezervacije i potvrde na jednom mjestu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5431536"/>
            <a:ext cx="5230368" cy="1234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5522975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A5E9"/>
                </a:solidFill>
                <a:latin typeface="Arial"/>
              </a:rPr>
              <a:t>👥  Suradnja u stvarnom vremenu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5998464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Svaka izmjena vidljiva svim sudionicima odmah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Arhitektura sustava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Dvije glavne komponente komuniciraju HTTP protokolom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ust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371600"/>
            <a:ext cx="6949440" cy="26878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371600"/>
            <a:ext cx="2176272" cy="1536192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7" y="1463040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Arial"/>
              </a:rPr>
              <a:t>Web-aplikacija
(Ruby on Rails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7" y="1993392"/>
            <a:ext cx="1938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MVC · Devise · Turbo Streams · WebSocket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017520"/>
            <a:ext cx="2176272" cy="1536192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7" y="3108960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A5E9"/>
                </a:solidFill>
                <a:latin typeface="Arial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7" y="3639312"/>
            <a:ext cx="1938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Korisnici · putovanja · mjesta · poruke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617720"/>
            <a:ext cx="2176272" cy="1536192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7" y="4709159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Arial"/>
              </a:rPr>
              <a:t>Agentski sustav
(Python / LangGraph)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7" y="5239512"/>
            <a:ext cx="1938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Višestupanjski AI agent · HTTP veza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4617720"/>
            <a:ext cx="2176272" cy="1536192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9528" y="4709159"/>
            <a:ext cx="1938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  <a:latin typeface="Arial"/>
              </a:rPr>
              <a:t>Vanjski servisi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9528" y="5239512"/>
            <a:ext cx="1938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Skyscanner · Booking · Airbnb · Tavily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Zašto nije dovoljno samo pitati LLM?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Jedan poziv vs. višestupanjski agentski sustav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1168" y="1325880"/>
            <a:ext cx="5669280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E293B"/>
                </a:solidFill>
                <a:latin typeface="Arial"/>
              </a:rPr>
              <a:t>❌  Trivijalni pristup (Zero-shot)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2011680"/>
            <a:ext cx="594360" cy="594360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43F5E"/>
                </a:solidFill>
                <a:latin typeface="Arial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Arial"/>
              </a:rPr>
              <a:t>Jedan poziv → jedan odgovor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" y="2898648"/>
            <a:ext cx="594360" cy="594360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43F5E"/>
                </a:solidFill>
                <a:latin typeface="Arial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008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Arial"/>
              </a:rPr>
              <a:t>Ne provjerava preklapanja termina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" y="3785616"/>
            <a:ext cx="594360" cy="594360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43F5E"/>
                </a:solidFill>
                <a:latin typeface="Arial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7705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Arial"/>
              </a:rPr>
              <a:t>Ignorira radna vremena lokacija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" y="4672584"/>
            <a:ext cx="594360" cy="594360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43F5E"/>
                </a:solidFill>
                <a:latin typeface="Arial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6402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Arial"/>
              </a:rPr>
              <a:t>Ne zna stvarne udaljenosti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" y="5559552"/>
            <a:ext cx="594360" cy="594360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43F5E"/>
                </a:solidFill>
                <a:latin typeface="Arial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5099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Arial"/>
              </a:rPr>
              <a:t>Plan izgleda ispravno — ali nije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16752" y="1298448"/>
            <a:ext cx="54864" cy="5303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1325880"/>
            <a:ext cx="5852160" cy="54864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7C3AED"/>
                </a:solidFill>
                <a:latin typeface="Arial"/>
              </a:rPr>
              <a:t>✅  Agentski sustav (LangGraph)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011680"/>
            <a:ext cx="594360" cy="5943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2103120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Arial"/>
              </a:rPr>
              <a:t>Više koraka → iterativno poboljšanje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898648"/>
            <a:ext cx="594360" cy="5943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990088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Arial"/>
              </a:rPr>
              <a:t>Deterministička provjera ograničenja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85616"/>
            <a:ext cx="594360" cy="5943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877056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Arial"/>
              </a:rPr>
              <a:t>Stvarne cijene letova i smještaja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672584"/>
            <a:ext cx="594360" cy="5943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4764024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Arial"/>
              </a:rPr>
              <a:t>Petlja popravka dok plan nije valjan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5559552"/>
            <a:ext cx="594360" cy="5943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6A34A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5650992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Arial"/>
              </a:rPr>
              <a:t>Bodovanje → bira se najbolji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Agentski sustav: Kako agent odlučuje?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Graf čvorova — svaki čvor = jedan korak obrade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08960" y="1417320"/>
            <a:ext cx="1645920" cy="548640"/>
          </a:xfrm>
          <a:prstGeom prst="roundRect">
            <a:avLst/>
          </a:prstGeom>
          <a:solidFill>
            <a:srgbClr val="BBF7D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293B"/>
                </a:solidFill>
                <a:latin typeface="Arial"/>
              </a:rPr>
              <a:t>__početak__</a:t>
            </a:r>
          </a:p>
        </p:txBody>
      </p:sp>
      <p:sp>
        <p:nvSpPr>
          <p:cNvPr id="8" name="Oval 7"/>
          <p:cNvSpPr/>
          <p:nvPr/>
        </p:nvSpPr>
        <p:spPr>
          <a:xfrm>
            <a:off x="3154679" y="2240280"/>
            <a:ext cx="1554480" cy="73152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293B"/>
                </a:solidFill>
                <a:latin typeface="Arial"/>
              </a:rPr>
              <a:t>usmjeravanje</a:t>
            </a:r>
          </a:p>
        </p:txBody>
      </p:sp>
      <p:sp>
        <p:nvSpPr>
          <p:cNvPr id="9" name="Oval 8"/>
          <p:cNvSpPr/>
          <p:nvPr/>
        </p:nvSpPr>
        <p:spPr>
          <a:xfrm>
            <a:off x="1485900" y="3589020"/>
            <a:ext cx="1417320" cy="685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293B"/>
                </a:solidFill>
                <a:latin typeface="Arial"/>
              </a:rPr>
              <a:t>novi plan</a:t>
            </a:r>
          </a:p>
        </p:txBody>
      </p:sp>
      <p:sp>
        <p:nvSpPr>
          <p:cNvPr id="10" name="Oval 9"/>
          <p:cNvSpPr/>
          <p:nvPr/>
        </p:nvSpPr>
        <p:spPr>
          <a:xfrm>
            <a:off x="3177539" y="3589020"/>
            <a:ext cx="1508760" cy="6858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izmjena
plana</a:t>
            </a:r>
          </a:p>
        </p:txBody>
      </p:sp>
      <p:sp>
        <p:nvSpPr>
          <p:cNvPr id="11" name="Oval 10"/>
          <p:cNvSpPr/>
          <p:nvPr/>
        </p:nvSpPr>
        <p:spPr>
          <a:xfrm>
            <a:off x="2263139" y="4709159"/>
            <a:ext cx="1508760" cy="731520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7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293B"/>
                </a:solidFill>
                <a:latin typeface="Arial"/>
              </a:rPr>
              <a:t>izrada
plana</a:t>
            </a:r>
          </a:p>
        </p:txBody>
      </p:sp>
      <p:sp>
        <p:nvSpPr>
          <p:cNvPr id="12" name="Oval 11"/>
          <p:cNvSpPr/>
          <p:nvPr/>
        </p:nvSpPr>
        <p:spPr>
          <a:xfrm>
            <a:off x="6172200" y="3602736"/>
            <a:ext cx="1371600" cy="658368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preporuke</a:t>
            </a:r>
          </a:p>
        </p:txBody>
      </p:sp>
      <p:sp>
        <p:nvSpPr>
          <p:cNvPr id="13" name="Oval 12"/>
          <p:cNvSpPr/>
          <p:nvPr/>
        </p:nvSpPr>
        <p:spPr>
          <a:xfrm>
            <a:off x="7543800" y="3602736"/>
            <a:ext cx="1371600" cy="658368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smještaj</a:t>
            </a:r>
          </a:p>
        </p:txBody>
      </p:sp>
      <p:sp>
        <p:nvSpPr>
          <p:cNvPr id="14" name="Oval 13"/>
          <p:cNvSpPr/>
          <p:nvPr/>
        </p:nvSpPr>
        <p:spPr>
          <a:xfrm>
            <a:off x="8915400" y="3602736"/>
            <a:ext cx="1371600" cy="658368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prijevoz</a:t>
            </a:r>
          </a:p>
        </p:txBody>
      </p:sp>
      <p:sp>
        <p:nvSpPr>
          <p:cNvPr id="15" name="Oval 14"/>
          <p:cNvSpPr/>
          <p:nvPr/>
        </p:nvSpPr>
        <p:spPr>
          <a:xfrm>
            <a:off x="10232136" y="3602736"/>
            <a:ext cx="1481328" cy="658368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opća
pitanja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5897880"/>
            <a:ext cx="1645920" cy="548640"/>
          </a:xfrm>
          <a:prstGeom prst="roundRect">
            <a:avLst/>
          </a:prstGeom>
          <a:solidFill>
            <a:srgbClr val="BBF7D0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293B"/>
                </a:solidFill>
                <a:latin typeface="Arial"/>
              </a:rPr>
              <a:t>__kraj__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1965960"/>
            <a:ext cx="0" cy="27432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194560" y="2971800"/>
            <a:ext cx="1371600" cy="61264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749039" y="2971800"/>
            <a:ext cx="182881" cy="61264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51959" y="2953512"/>
            <a:ext cx="2148841" cy="64922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34840" y="2898648"/>
            <a:ext cx="3429000" cy="704088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2834640"/>
            <a:ext cx="4754880" cy="768096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81728" y="2770632"/>
            <a:ext cx="6153912" cy="832104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94560" y="4279392"/>
            <a:ext cx="548640" cy="429767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291840" y="4279392"/>
            <a:ext cx="640080" cy="429767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17520" y="5440680"/>
            <a:ext cx="1737360" cy="457200"/>
          </a:xfrm>
          <a:prstGeom prst="line">
            <a:avLst/>
          </a:prstGeom>
          <a:ln w="19050">
            <a:solidFill>
              <a:srgbClr val="1E293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852160" y="4279392"/>
            <a:ext cx="1005840" cy="1618488"/>
          </a:xfrm>
          <a:prstGeom prst="line">
            <a:avLst/>
          </a:prstGeom>
          <a:ln w="19050">
            <a:solidFill>
              <a:srgbClr val="1E293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852160" y="4279392"/>
            <a:ext cx="2377440" cy="1618488"/>
          </a:xfrm>
          <a:prstGeom prst="line">
            <a:avLst/>
          </a:prstGeom>
          <a:ln w="19050">
            <a:solidFill>
              <a:srgbClr val="1E293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5852160" y="4279392"/>
            <a:ext cx="3749040" cy="1618488"/>
          </a:xfrm>
          <a:prstGeom prst="line">
            <a:avLst/>
          </a:prstGeom>
          <a:ln w="19050">
            <a:solidFill>
              <a:srgbClr val="1E293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852160" y="4279392"/>
            <a:ext cx="5120640" cy="1618488"/>
          </a:xfrm>
          <a:prstGeom prst="line">
            <a:avLst/>
          </a:prstGeom>
          <a:ln w="19050">
            <a:solidFill>
              <a:srgbClr val="1E293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999232" y="1307592"/>
            <a:ext cx="1865376" cy="768096"/>
          </a:xfrm>
          <a:prstGeom prst="ellipse">
            <a:avLst/>
          </a:prstGeom>
          <a:noFill/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61120" y="1298448"/>
            <a:ext cx="3063240" cy="9326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0848" y="13624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__početak__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175564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Ulazna točka — svaki korisnički upit počinje ovdje</a:t>
            </a:r>
          </a:p>
        </p:txBody>
      </p:sp>
      <p:sp>
        <p:nvSpPr>
          <p:cNvPr id="35" name="Oval 34"/>
          <p:cNvSpPr/>
          <p:nvPr/>
        </p:nvSpPr>
        <p:spPr>
          <a:xfrm>
            <a:off x="3044951" y="2130552"/>
            <a:ext cx="1773936" cy="950976"/>
          </a:xfrm>
          <a:prstGeom prst="ellipse">
            <a:avLst/>
          </a:prstGeom>
          <a:noFill/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61120" y="2423160"/>
            <a:ext cx="3063240" cy="9326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0848" y="2487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Arial"/>
              </a:rPr>
              <a:t>usmjeravanje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2880360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LLM klasificira upit u jednu od 6 kategorija
(brzi claude-haiku model)</a:t>
            </a:r>
          </a:p>
        </p:txBody>
      </p:sp>
      <p:sp>
        <p:nvSpPr>
          <p:cNvPr id="39" name="Oval 38"/>
          <p:cNvSpPr/>
          <p:nvPr/>
        </p:nvSpPr>
        <p:spPr>
          <a:xfrm>
            <a:off x="1376172" y="3479291"/>
            <a:ext cx="1636776" cy="905256"/>
          </a:xfrm>
          <a:prstGeom prst="ellipse">
            <a:avLst/>
          </a:prstGeom>
          <a:noFill/>
          <a:ln w="38100">
            <a:solidFill>
              <a:srgbClr val="EA7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61120" y="3547872"/>
            <a:ext cx="3063240" cy="932688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EA7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0848" y="361187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760C"/>
                </a:solidFill>
                <a:latin typeface="Arial"/>
              </a:rPr>
              <a:t>novi plan / izmjena plana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0848" y="4005072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Paralelno generira 2 kandidata:
kompaktnost vs. raznolikost aktivnosti</a:t>
            </a:r>
          </a:p>
        </p:txBody>
      </p:sp>
      <p:sp>
        <p:nvSpPr>
          <p:cNvPr id="43" name="Oval 42"/>
          <p:cNvSpPr/>
          <p:nvPr/>
        </p:nvSpPr>
        <p:spPr>
          <a:xfrm>
            <a:off x="2153410" y="4599431"/>
            <a:ext cx="1728216" cy="950976"/>
          </a:xfrm>
          <a:prstGeom prst="ellipse">
            <a:avLst/>
          </a:prstGeom>
          <a:noFill/>
          <a:ln w="38100">
            <a:solidFill>
              <a:srgbClr val="EA7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961120" y="4663440"/>
            <a:ext cx="3063240" cy="932688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EA7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0848" y="47274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760C"/>
                </a:solidFill>
                <a:latin typeface="Arial"/>
              </a:rPr>
              <a:t>izrada plana (podgraf)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0848" y="5120640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Provjera → popravak → bodovanje
Bira se najkvalitetniji valjani plan</a:t>
            </a:r>
          </a:p>
        </p:txBody>
      </p:sp>
      <p:sp>
        <p:nvSpPr>
          <p:cNvPr id="47" name="Oval 46"/>
          <p:cNvSpPr/>
          <p:nvPr/>
        </p:nvSpPr>
        <p:spPr>
          <a:xfrm>
            <a:off x="6062472" y="3493008"/>
            <a:ext cx="1591056" cy="877824"/>
          </a:xfrm>
          <a:prstGeom prst="ellipse">
            <a:avLst/>
          </a:prstGeom>
          <a:noFill/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961120" y="5760720"/>
            <a:ext cx="3063240" cy="9326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70848" y="58247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Arial"/>
              </a:rPr>
              <a:t>preporuke / smještaj / prijevoz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6217920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rial"/>
              </a:rPr>
              <a:t>Pozivaju vanjske API-je u stvarnom vremenu
(Skyscanner, Booking, Airbnb, Tavily)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" dur="500" fill="hold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7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Kako nastaje plan putovanja?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Plan ne prolazi odmah — iterativna validacija i popravak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ode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371600"/>
            <a:ext cx="11658600" cy="35610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56032" y="5029200"/>
            <a:ext cx="5852160" cy="80467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7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50840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760C"/>
                </a:solidFill>
                <a:latin typeface="Arial"/>
              </a:rPr>
              <a:t>1. Generiranje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508406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2× LLM paralelno (claude-sonnet)
kompaktnost vs. raznolikost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5029200"/>
            <a:ext cx="5852160" cy="804672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50840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Arial"/>
              </a:rPr>
              <a:t>2. Provjera (bez LLM!)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508406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Kod ispituje preklapanja,
udaljenosti, obvezna mjesta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5897880"/>
            <a:ext cx="5852160" cy="804672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9527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Arial"/>
              </a:rPr>
              <a:t>3. Popravak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595274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LLM dobiva popis grešaka
i popravlja samo te dijelove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5897880"/>
            <a:ext cx="5852160" cy="8046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59527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Arial"/>
              </a:rPr>
              <a:t>4. Bodovanje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595274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Arial"/>
              </a:rPr>
              <a:t>6 kriterija: ruta 25%,
prioritet 25%, kvaliteta 15%...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Kako smo poboljšali kvalitetu plana?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Inženjering upute — kvaliteta plana ovisi o tome ŠTO kažemo modelu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417320"/>
            <a:ext cx="5852160" cy="2377440"/>
          </a:xfrm>
          <a:prstGeom prst="roundRect">
            <a:avLst/>
          </a:prstGeom>
          <a:solidFill>
            <a:srgbClr val="FFE4E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3F5E"/>
                </a:solidFill>
                <a:latin typeface="Arial"/>
              </a:rPr>
              <a:t>Problem: Preklapanja termina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2057400"/>
            <a:ext cx="5486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Arial"/>
              </a:rPr>
              <a:t>Svaki upit zahtijevao popravak
→ plan kasni +34 sekunde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417320"/>
            <a:ext cx="5852160" cy="237744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Arial"/>
              </a:rPr>
              <a:t>Rješenje: Samoprovjera u uputi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057400"/>
            <a:ext cx="5486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Arial"/>
              </a:rPr>
              <a:t>Model sam izračuna kraj svake
aktivnosti i pomakne preklapanja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3931920"/>
            <a:ext cx="5852160" cy="237744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7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760C"/>
                </a:solidFill>
                <a:latin typeface="Arial"/>
              </a:rPr>
              <a:t>Problem: Nelogičan redoslijed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4572000"/>
            <a:ext cx="5486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Arial"/>
              </a:rPr>
              <a:t>Ruta: Opéra→Lafayette→Place Vendôme
= vraćanje na sjever pa opet na jug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931920"/>
            <a:ext cx="5852160" cy="23774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Arial"/>
              </a:rPr>
              <a:t>Rješenje: Smještaj kao polazište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572000"/>
            <a:ext cx="5486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  <a:latin typeface="Arial"/>
              </a:rPr>
              <a:t>"Kreći od smještaja u jedan
geografski smjer kroz cijeli dan"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" y="6419088"/>
            <a:ext cx="11658600" cy="38404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Rezultat: Plan prolazi iz prvog pokušaja → 295s umjesto 329s  |  Geografski smislena ruta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Demo: Registracija i kreiranje putovanja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Korisnik se registrira, potvrdi e-mail i odmah kreira putovanje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gistraci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371600"/>
            <a:ext cx="3749039" cy="5455188"/>
          </a:xfrm>
          <a:prstGeom prst="rect">
            <a:avLst/>
          </a:prstGeom>
        </p:spPr>
      </p:pic>
      <p:pic>
        <p:nvPicPr>
          <p:cNvPr id="8" name="Picture 7" descr="new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3749039" cy="3530117"/>
          </a:xfrm>
          <a:prstGeom prst="rect">
            <a:avLst/>
          </a:prstGeom>
        </p:spPr>
      </p:pic>
      <p:pic>
        <p:nvPicPr>
          <p:cNvPr id="9" name="Picture 8" descr="new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371600"/>
            <a:ext cx="3749039" cy="38100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79" y="6473952"/>
            <a:ext cx="2834640" cy="34747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F46E5"/>
                </a:solidFill>
                <a:latin typeface="Arial"/>
              </a:rPr>
              <a:t>Registracija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6473952"/>
            <a:ext cx="2834640" cy="34747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F46E5"/>
                </a:solidFill>
                <a:latin typeface="Arial"/>
              </a:rPr>
              <a:t>Kreiranje putovanja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6473952"/>
            <a:ext cx="2834640" cy="34747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4F46E5"/>
                </a:solidFill>
                <a:latin typeface="Arial"/>
              </a:rPr>
              <a:t>Prijevoz i slika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Demo: Zajednička karta i mjesta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Dodaj mjesto — vidljivo svim sudionicima odmah (WebSocket)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ijeli_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371600"/>
            <a:ext cx="6309360" cy="4639235"/>
          </a:xfrm>
          <a:prstGeom prst="rect">
            <a:avLst/>
          </a:prstGeom>
        </p:spPr>
      </p:pic>
      <p:pic>
        <p:nvPicPr>
          <p:cNvPr id="8" name="Picture 7" descr="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371600"/>
            <a:ext cx="5349240" cy="41403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05840" y="6473952"/>
            <a:ext cx="475488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EA5E9"/>
                </a:solidFill>
                <a:latin typeface="Arial"/>
              </a:rPr>
              <a:t>Karta, mjesta i bočna traka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6473952"/>
            <a:ext cx="4754880" cy="347472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C3AED"/>
                </a:solidFill>
                <a:latin typeface="Arial"/>
              </a:rPr>
              <a:t>Komentari sudionika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Demo: Razgovor s agentom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Prirodni jezik → agentski sustav → strukturirani odgovor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371600"/>
            <a:ext cx="5120640" cy="496768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371600"/>
            <a:ext cx="6400800" cy="1234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9008" y="1463040"/>
            <a:ext cx="6053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Arial"/>
              </a:rPr>
              <a:t>🤖  Preporuke mjesta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1938528"/>
            <a:ext cx="6053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Tavily web search + kontekst putovanja
→ stvarne preporuke s ocjenama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2724912"/>
            <a:ext cx="6400800" cy="1234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9008" y="2816352"/>
            <a:ext cx="6053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A5E9"/>
                </a:solidFill>
                <a:latin typeface="Arial"/>
              </a:rPr>
              <a:t>✈️  Prijevoz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3291840"/>
            <a:ext cx="6053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Skyscanner za letove + web za vlakove
→ stvarne cijene i polasci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4078224"/>
            <a:ext cx="6400800" cy="12344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7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8" y="4169663"/>
            <a:ext cx="6053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760C"/>
                </a:solidFill>
                <a:latin typeface="Arial"/>
              </a:rPr>
              <a:t>🏨  Smještaj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4645152"/>
            <a:ext cx="6053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Booking.com + Airbnb filtrirano
po udaljenosti i ocjeni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5431536"/>
            <a:ext cx="640080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79008" y="5522975"/>
            <a:ext cx="60533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Arial"/>
              </a:rPr>
              <a:t>📅  Plan putovanja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8" y="5998464"/>
            <a:ext cx="6053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Dnevni raspored s validacijom
Klik 'Spremi' → dodaje u itinerar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Demo: Dnevni raspored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Plan po danima — aktivnosti, prijevoz, obroci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371600"/>
            <a:ext cx="4206240" cy="408252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56032" y="1371600"/>
            <a:ext cx="361188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Arial"/>
              </a:rPr>
              <a:t>Po danima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3852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Navigacija strelicom — svaki dan zasebno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2724912"/>
            <a:ext cx="3611880" cy="1234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81635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A5E9"/>
                </a:solidFill>
                <a:latin typeface="Arial"/>
              </a:rPr>
              <a:t>Vremena i trajanja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918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Početak, trajanje i put do sljedeće lokacije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4078224"/>
            <a:ext cx="3611880" cy="12344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169663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Arial"/>
              </a:rPr>
              <a:t>Karta uz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4515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Markeri pokazuju redoslijed obilaska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" y="5431536"/>
            <a:ext cx="3611880" cy="1234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522975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Arial"/>
              </a:rPr>
              <a:t>Iterativna izmjena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99846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"Makni Ozio" → agent ažurira bez tog mjesta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1371600"/>
            <a:ext cx="3584448" cy="5394960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15361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4748B"/>
                </a:solidFill>
                <a:latin typeface="Arial"/>
              </a:rPr>
              <a:t>Plan u chatu: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1993392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Arial"/>
              </a:rPr>
              <a:t>Vaša baza: Hôtel Beige – Paris 9e
Dan 1  Lafayette · Opéra · Place Vendôme
Dan 2  Louvre · Pyramides · Notre-Dame
Dan 3  Champs-Élysées · Eiffelov toranj
Dan 4  Invalides · Le Petit Cler
Dan 5  Café Pouchkine · povratak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Demo: Dokumenti i karte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Sve rezervacije i karte na jednom mjestu — dostupne svim sudionicima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i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6858000" cy="47426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56032" y="1371600"/>
            <a:ext cx="2816352" cy="12344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46E5"/>
                </a:solidFill>
                <a:latin typeface="Arial"/>
              </a:rPr>
              <a:t>🏨  Smještaj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3852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Arial"/>
              </a:rPr>
              <a:t>Potvrde rezervacija hotela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2724912"/>
            <a:ext cx="2816352" cy="12344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816352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EA5E9"/>
                </a:solidFill>
                <a:latin typeface="Arial"/>
              </a:rPr>
              <a:t>🎭  Aktivnosti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918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Arial"/>
              </a:rPr>
              <a:t>Ulaznice, koncerti, 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4078224"/>
            <a:ext cx="2816352" cy="12344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7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169663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A760C"/>
                </a:solidFill>
                <a:latin typeface="Arial"/>
              </a:rPr>
              <a:t>✈️  Prijevoz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451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Arial"/>
              </a:rPr>
              <a:t>Boarding karte, vlak, bus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" y="5431536"/>
            <a:ext cx="2816352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522975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64748B"/>
                </a:solidFill>
                <a:latin typeface="Arial"/>
              </a:rPr>
              <a:t>📄  Ostalo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998464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Arial"/>
              </a:rPr>
              <a:t>Putovnica, osiguranje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Eksperimentalna evaluacija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Testni scenarij: Pariz, 5 dana, 18 mjesta, 2 sudionika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325880"/>
            <a:ext cx="252374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Komponenta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2" y="1325880"/>
            <a:ext cx="2798064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870448" y="1325880"/>
            <a:ext cx="3218688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Rješenje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53728" y="1325880"/>
            <a:ext cx="2734056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Učinak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901952"/>
            <a:ext cx="2523744" cy="1097280"/>
          </a:xfrm>
          <a:prstGeom prst="rect">
            <a:avLst/>
          </a:prstGeom>
          <a:solidFill>
            <a:srgbClr val="EDE9FE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Samoprovjera
u uputi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901952"/>
            <a:ext cx="2798064" cy="1097280"/>
          </a:xfrm>
          <a:prstGeom prst="rect">
            <a:avLst/>
          </a:prstGeom>
          <a:solidFill>
            <a:srgbClr val="E0E7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Plan pada na provjeri
→ svaki upit zahtijeva
popravak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70448" y="1901952"/>
            <a:ext cx="3218688" cy="1097280"/>
          </a:xfrm>
          <a:prstGeom prst="rect">
            <a:avLst/>
          </a:prstGeom>
          <a:solidFill>
            <a:srgbClr val="E0E7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Model sam ispravlja
preklapanja prije
predaje na provjeru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53728" y="1901952"/>
            <a:ext cx="2734056" cy="1097280"/>
          </a:xfrm>
          <a:prstGeom prst="rect">
            <a:avLst/>
          </a:prstGeom>
          <a:solidFill>
            <a:srgbClr val="E0E7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295s umjesto 329s
Prolaz iz 1. pokušaja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3072384"/>
            <a:ext cx="2523744" cy="1097280"/>
          </a:xfrm>
          <a:prstGeom prst="rect">
            <a:avLst/>
          </a:prstGeom>
          <a:solidFill>
            <a:srgbClr val="EDE9FE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Obvezna
mjesta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07792" y="3072384"/>
            <a:ext cx="279806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Agent vraća mjesta
koja korisnik
eksplicitno traži izbrisati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0448" y="3072384"/>
            <a:ext cx="321868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Čvor prepoznaje
isključenje → makne iz
liste obveznih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53728" y="3072384"/>
            <a:ext cx="27340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Ponašanje usklađeno
s namjerom
korisnika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4242816"/>
            <a:ext cx="2523744" cy="1097280"/>
          </a:xfrm>
          <a:prstGeom prst="rect">
            <a:avLst/>
          </a:prstGeom>
          <a:solidFill>
            <a:srgbClr val="EDE9FE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Redoslijed
obilaska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7792" y="4242816"/>
            <a:ext cx="2798064" cy="1097280"/>
          </a:xfrm>
          <a:prstGeom prst="rect">
            <a:avLst/>
          </a:prstGeom>
          <a:solidFill>
            <a:srgbClr val="E0E7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Ruta se vraća
unatrag (nepotrebno
hodanje)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70448" y="4242816"/>
            <a:ext cx="3218688" cy="1097280"/>
          </a:xfrm>
          <a:prstGeom prst="rect">
            <a:avLst/>
          </a:prstGeom>
          <a:solidFill>
            <a:srgbClr val="E0E7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Smještaj kao polazna
točka + kretanje
u jednom smjeru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53728" y="4242816"/>
            <a:ext cx="2734056" cy="1097280"/>
          </a:xfrm>
          <a:prstGeom prst="rect">
            <a:avLst/>
          </a:prstGeom>
          <a:solidFill>
            <a:srgbClr val="E0E7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Geografski smislena
ruta bez
povrataka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5413248"/>
            <a:ext cx="2523744" cy="1097280"/>
          </a:xfrm>
          <a:prstGeom prst="rect">
            <a:avLst/>
          </a:prstGeom>
          <a:solidFill>
            <a:srgbClr val="EDE9FE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Izbor
modela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07792" y="5413248"/>
            <a:ext cx="279806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gemini-2.5-flash:
13+ prekršaja,
lošiji planovi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70448" y="5413248"/>
            <a:ext cx="321868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claude-sonnet-4-6:
valjani planovi
iz 1. prolaza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53728" y="5413248"/>
            <a:ext cx="27340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E293B"/>
                </a:solidFill>
                <a:latin typeface="Arial"/>
              </a:rPr>
              <a:t>Sonnet: dobar omjer
cijene i kvalitete;
Opus: ~50s ✓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with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Evaluacija: Optimizacija redoslijeda obilaska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4748B"/>
                </a:solidFill>
                <a:latin typeface="Arial"/>
              </a:rPr>
              <a:t>Primjer kako dodavanje smještaja ispravlja logiku rute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325880"/>
            <a:ext cx="1097280" cy="475488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43F5E"/>
                </a:solidFill>
                <a:latin typeface="Arial"/>
              </a:rPr>
              <a:t>❌ Prije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Arial"/>
              </a:rPr>
              <a:t>Bez smještaja — ruta se vraća unatrag</a:t>
            </a:r>
          </a:p>
        </p:txBody>
      </p:sp>
      <p:pic>
        <p:nvPicPr>
          <p:cNvPr id="9" name="Picture 8" descr="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920240"/>
            <a:ext cx="3789730" cy="4206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46520" y="1325880"/>
            <a:ext cx="1097280" cy="47548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A34A"/>
                </a:solidFill>
                <a:latin typeface="Arial"/>
              </a:rPr>
              <a:t>✅ Nakon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2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Arial"/>
              </a:rPr>
              <a:t>Sa smještajem — jednosmjerna ruta</a:t>
            </a:r>
          </a:p>
        </p:txBody>
      </p:sp>
      <p:pic>
        <p:nvPicPr>
          <p:cNvPr id="12" name="Picture 11" descr="dob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20240"/>
            <a:ext cx="4849270" cy="4206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56032" y="6355080"/>
            <a:ext cx="11658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  <a:latin typeface="Arial"/>
              </a:rPr>
              <a:t>Rješenje: adresa smještaja u kontekst + uputa: "Kreći od smještaja, napreduj u jedan geografski smjer"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E293B"/>
                </a:solidFill>
                <a:latin typeface="Arial"/>
              </a:rPr>
              <a:t>Zaključak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58600" cy="3657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51560"/>
            <a:ext cx="5833872" cy="2450592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19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46E5"/>
                </a:solidFill>
                <a:latin typeface="Arial"/>
              </a:rPr>
              <a:t>🏗️  Implementiran cijeli sustav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5440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Rails 8 + LangGraph + PostgreSQL + vanjski API-ji
— radi u stvarnom vremenu za više korisnika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051560"/>
            <a:ext cx="5833872" cy="2450592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88719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Arial"/>
              </a:rPr>
              <a:t>🤖  Agentski pristup se pokazao boljim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709928"/>
            <a:ext cx="5440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Samoprovjera + deterministička validacija + petlja popravka
— planovi prolaze provjeru iz prvog pokušaja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85031"/>
            <a:ext cx="5833872" cy="2450592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22191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  <a:latin typeface="Arial"/>
              </a:rPr>
              <a:t>📊  Evaluacija na stvarnom scenariju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399"/>
            <a:ext cx="5440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Pariz, 5 dana, 18 mjesta — svaki mehanizam testiran
— Claude modeli daleko ispred Gemini-a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3685031"/>
            <a:ext cx="5833872" cy="2450592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7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822191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760C"/>
                </a:solidFill>
                <a:latin typeface="Arial"/>
              </a:rPr>
              <a:t>🔮  Što dalje?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343399"/>
            <a:ext cx="5440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Arial"/>
              </a:rPr>
              <a:t>Pouzdaniji API-ji za smještaj,
podrška za više smještaja unutar putovanja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6446520"/>
            <a:ext cx="11631168" cy="38404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Hvala na pažnji!   •   Pitanja?   •   lorenajakic@fer.hr</a:t>
            </a:r>
          </a:p>
        </p:txBody>
      </p:sp>
    </p:spTree>
  </p:cSld>
  <p:clrMapOvr>
    <a:masterClrMapping/>
  </p:clrMapOvr>
  <p:timing>
    <p:tnLst>
      <p:par>
        <p:cTn id="10" dur="indefinite" restart="whenNotActive" nodeType="tmRoot">
          <p:childTnLst>
            <p:seq concurrent="1" nextAc="seek">
              <p:cTn id="11" dur="indefinite" nodeType="mainSeq">
                <p:childTnLst>
                  <p:par>
                    <p:cTn id="1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evt="onClick" delay="0">
                          <p:tn>
                            <p:tgtEl>
                              <p:sldTgt/>
                            </p:tgtEl>
                          </p:tn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 dur="5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